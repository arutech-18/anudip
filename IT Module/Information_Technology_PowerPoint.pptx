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7"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7" r:id="rId19"/>
    <p:sldId id="281" r:id="rId20"/>
    <p:sldId id="282" r:id="rId21"/>
    <p:sldId id="283" r:id="rId22"/>
    <p:sldId id="286" r:id="rId23"/>
    <p:sldId id="287" r:id="rId24"/>
    <p:sldId id="288" r:id="rId25"/>
    <p:sldId id="289" r:id="rId26"/>
    <p:sldId id="290" r:id="rId27"/>
    <p:sldId id="291" r:id="rId28"/>
    <p:sldId id="292" r:id="rId29"/>
    <p:sldId id="293" r:id="rId30"/>
    <p:sldId id="294" r:id="rId31"/>
    <p:sldId id="295" r:id="rId32"/>
    <p:sldId id="297" r:id="rId33"/>
    <p:sldId id="298" r:id="rId34"/>
    <p:sldId id="299" r:id="rId35"/>
    <p:sldId id="300" r:id="rId36"/>
    <p:sldId id="301" r:id="rId37"/>
    <p:sldId id="302"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7" d="100"/>
          <a:sy n="77" d="100"/>
        </p:scale>
        <p:origin x="883" y="5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C88A95-DCF4-40C6-9D7E-077C866DDDE1}" type="datetimeFigureOut">
              <a:rPr lang="en-IN" smtClean="0"/>
              <a:t>18-01-2026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9CF7D-D415-4BA4-B3BB-C73663BAC385}" type="slidenum">
              <a:rPr lang="en-IN" smtClean="0"/>
              <a:t>‹#›</a:t>
            </a:fld>
            <a:endParaRPr lang="en-IN"/>
          </a:p>
        </p:txBody>
      </p:sp>
    </p:spTree>
    <p:extLst>
      <p:ext uri="{BB962C8B-B14F-4D97-AF65-F5344CB8AC3E}">
        <p14:creationId xmlns:p14="http://schemas.microsoft.com/office/powerpoint/2010/main" val="2084136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1B9CF7D-D415-4BA4-B3BB-C73663BAC385}" type="slidenum">
              <a:rPr lang="en-IN" smtClean="0"/>
              <a:t>14</a:t>
            </a:fld>
            <a:endParaRPr lang="en-IN"/>
          </a:p>
        </p:txBody>
      </p:sp>
    </p:spTree>
    <p:extLst>
      <p:ext uri="{BB962C8B-B14F-4D97-AF65-F5344CB8AC3E}">
        <p14:creationId xmlns:p14="http://schemas.microsoft.com/office/powerpoint/2010/main" val="3581288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944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522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92458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5505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1/18/2026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4811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1/18/2026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5686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1/18/2026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07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5380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88986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39614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FF6DA9-008F-8B48-92A6-B652298478BF}"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53480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53224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FF6DA9-008F-8B48-92A6-B652298478BF}"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64549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28619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0987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8087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1/18/2026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724963553"/>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Information Technology (IT)</a:t>
            </a:r>
          </a:p>
        </p:txBody>
      </p:sp>
      <p:sp>
        <p:nvSpPr>
          <p:cNvPr id="3" name="Subtitle 2"/>
          <p:cNvSpPr>
            <a:spLocks noGrp="1"/>
          </p:cNvSpPr>
          <p:nvPr>
            <p:ph type="subTitle" idx="1"/>
          </p:nvPr>
        </p:nvSpPr>
        <p:spPr/>
        <p:txBody>
          <a:bodyPr/>
          <a:lstStyle/>
          <a:p>
            <a:endParaRPr dirty="0"/>
          </a:p>
          <a:p>
            <a:r>
              <a:rPr lang="en-IN" dirty="0"/>
              <a:t>By </a:t>
            </a:r>
            <a:r>
              <a:rPr dirty="0"/>
              <a:t>Arunangshu Bachaspati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1431236"/>
            <a:ext cx="8915399" cy="1123122"/>
          </a:xfrm>
        </p:spPr>
        <p:txBody>
          <a:bodyPr/>
          <a:lstStyle/>
          <a:p>
            <a:r>
              <a:rPr dirty="0"/>
              <a:t>Introduction</a:t>
            </a:r>
          </a:p>
        </p:txBody>
      </p:sp>
      <p:sp>
        <p:nvSpPr>
          <p:cNvPr id="3" name="Text Placeholder 2"/>
          <p:cNvSpPr>
            <a:spLocks noGrp="1"/>
          </p:cNvSpPr>
          <p:nvPr>
            <p:ph type="body" idx="1"/>
          </p:nvPr>
        </p:nvSpPr>
        <p:spPr>
          <a:xfrm>
            <a:off x="2589212" y="3021496"/>
            <a:ext cx="9014791" cy="2910841"/>
          </a:xfrm>
        </p:spPr>
        <p:txBody>
          <a:bodyPr>
            <a:normAutofit/>
          </a:bodyPr>
          <a:lstStyle/>
          <a:p>
            <a:r>
              <a:rPr lang="en-US" dirty="0"/>
              <a:t>Information Technology is the use of computers and digital systems to store, process, and share information. It helps make work faster, communication easier, and supports many fields like education, business, and healthcare.</a:t>
            </a:r>
            <a:endParaRPr lang="en-IN" dirty="0"/>
          </a:p>
          <a:p>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Information Technology?</a:t>
            </a:r>
          </a:p>
        </p:txBody>
      </p:sp>
      <p:sp>
        <p:nvSpPr>
          <p:cNvPr id="3" name="Content Placeholder 2"/>
          <p:cNvSpPr>
            <a:spLocks noGrp="1"/>
          </p:cNvSpPr>
          <p:nvPr>
            <p:ph idx="1"/>
          </p:nvPr>
        </p:nvSpPr>
        <p:spPr/>
        <p:txBody>
          <a:bodyPr/>
          <a:lstStyle/>
          <a:p>
            <a:pPr marL="0" indent="0">
              <a:buNone/>
              <a:defRPr sz="2000"/>
            </a:pPr>
            <a:r>
              <a:rPr lang="en-US" b="1" dirty="0"/>
              <a:t>Information Technology (IT)</a:t>
            </a:r>
            <a:r>
              <a:rPr lang="en-US" dirty="0"/>
              <a:t> is the use of computers, software, and networks to store, process, retrieve, and share information efficiently.</a:t>
            </a:r>
            <a:br>
              <a:rPr lang="en-US" dirty="0"/>
            </a:br>
            <a:r>
              <a:rPr lang="en-US" dirty="0"/>
              <a:t>It helps improve communication, data management, and productivity.</a:t>
            </a:r>
            <a:br>
              <a:rPr lang="en-US" dirty="0"/>
            </a:br>
            <a:r>
              <a:rPr lang="en-US" dirty="0"/>
              <a:t>IT is widely used in fields such as education, business, healthcare, and banking.</a:t>
            </a:r>
          </a:p>
          <a:p>
            <a:pPr marL="0" indent="0">
              <a:buNone/>
              <a:defRPr sz="2000"/>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Importance of IT</a:t>
            </a:r>
          </a:p>
        </p:txBody>
      </p:sp>
      <p:sp>
        <p:nvSpPr>
          <p:cNvPr id="3" name="Content Placeholder 2"/>
          <p:cNvSpPr>
            <a:spLocks noGrp="1"/>
          </p:cNvSpPr>
          <p:nvPr>
            <p:ph idx="1"/>
          </p:nvPr>
        </p:nvSpPr>
        <p:spPr/>
        <p:txBody>
          <a:bodyPr/>
          <a:lstStyle/>
          <a:p>
            <a:pPr marL="0" indent="0">
              <a:buNone/>
              <a:defRPr sz="2000"/>
            </a:pPr>
            <a:r>
              <a:rPr lang="en-US" dirty="0"/>
              <a:t>It improves communication and makes work faster and more efficient.</a:t>
            </a:r>
            <a:br>
              <a:rPr lang="en-US" dirty="0"/>
            </a:br>
            <a:r>
              <a:rPr lang="en-US" dirty="0"/>
              <a:t>It helps in storing and managing large amounts of data securely.</a:t>
            </a:r>
            <a:br>
              <a:rPr lang="en-US" dirty="0"/>
            </a:br>
            <a:r>
              <a:rPr lang="en-US" dirty="0"/>
              <a:t>IT supports growth in education, business, healthcare, and many other sectors.</a:t>
            </a:r>
          </a:p>
          <a:p>
            <a:pPr marL="0" indent="0">
              <a:buNone/>
              <a:defRPr sz="2000"/>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History of IT</a:t>
            </a:r>
          </a:p>
        </p:txBody>
      </p:sp>
      <p:sp>
        <p:nvSpPr>
          <p:cNvPr id="3" name="Content Placeholder 2"/>
          <p:cNvSpPr>
            <a:spLocks noGrp="1"/>
          </p:cNvSpPr>
          <p:nvPr>
            <p:ph idx="1"/>
          </p:nvPr>
        </p:nvSpPr>
        <p:spPr/>
        <p:txBody>
          <a:bodyPr/>
          <a:lstStyle/>
          <a:p>
            <a:pPr marL="0" indent="0">
              <a:buNone/>
              <a:defRPr sz="2000"/>
            </a:pPr>
            <a:r>
              <a:rPr lang="en-US" dirty="0"/>
              <a:t>The history of IT began with early calculating devices like the abacus.</a:t>
            </a:r>
            <a:br>
              <a:rPr lang="en-US" dirty="0"/>
            </a:br>
            <a:r>
              <a:rPr lang="en-US" dirty="0"/>
              <a:t>It developed with the invention of computers and progressed through mainframes, personal computers, and the internet.</a:t>
            </a:r>
            <a:br>
              <a:rPr lang="en-US" dirty="0"/>
            </a:br>
            <a:r>
              <a:rPr lang="en-US" dirty="0"/>
              <a:t>Today, IT includes advanced technologies such as cloud computing, artificial intelligence, and mobile systems.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Core Components</a:t>
            </a:r>
          </a:p>
        </p:txBody>
      </p:sp>
      <p:sp>
        <p:nvSpPr>
          <p:cNvPr id="3" name="Text Placeholder 2"/>
          <p:cNvSpPr>
            <a:spLocks noGrp="1"/>
          </p:cNvSpPr>
          <p:nvPr>
            <p:ph type="body" idx="1"/>
          </p:nvPr>
        </p:nvSpPr>
        <p:spPr>
          <a:xfrm>
            <a:off x="2589212" y="4005469"/>
            <a:ext cx="8915399" cy="1878496"/>
          </a:xfrm>
        </p:spPr>
        <p:txBody>
          <a:bodyPr>
            <a:normAutofit/>
          </a:bodyPr>
          <a:lstStyle/>
          <a:p>
            <a:r>
              <a:rPr lang="en-US" dirty="0"/>
              <a:t>The core components of IT include hardware, software, and networks.</a:t>
            </a:r>
            <a:br>
              <a:rPr lang="en-US" dirty="0"/>
            </a:br>
            <a:r>
              <a:rPr lang="en-US" dirty="0"/>
              <a:t>Hardware refers to physical devices like computers and servers.</a:t>
            </a:r>
            <a:br>
              <a:rPr lang="en-US" dirty="0"/>
            </a:br>
            <a:r>
              <a:rPr lang="en-US" dirty="0"/>
              <a:t>Software includes operating systems and applications used to perform tasks.</a:t>
            </a:r>
            <a:br>
              <a:rPr lang="en-US" dirty="0"/>
            </a:br>
            <a:r>
              <a:rPr lang="en-US" dirty="0"/>
              <a:t>Networks connect devices to share data and resources.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Main Components of IT</a:t>
            </a:r>
          </a:p>
        </p:txBody>
      </p:sp>
      <p:sp>
        <p:nvSpPr>
          <p:cNvPr id="3" name="Content Placeholder 2"/>
          <p:cNvSpPr>
            <a:spLocks noGrp="1"/>
          </p:cNvSpPr>
          <p:nvPr>
            <p:ph idx="1"/>
          </p:nvPr>
        </p:nvSpPr>
        <p:spPr/>
        <p:txBody>
          <a:bodyPr/>
          <a:lstStyle/>
          <a:p>
            <a:pPr marL="0" indent="0">
              <a:buNone/>
              <a:defRPr sz="2000"/>
            </a:pPr>
            <a:r>
              <a:rPr lang="en-US" dirty="0"/>
              <a:t>The main components of IT are hardware, software, data, and networks.</a:t>
            </a:r>
            <a:br>
              <a:rPr lang="en-US" dirty="0"/>
            </a:br>
            <a:r>
              <a:rPr lang="en-US" dirty="0"/>
              <a:t>Hardware includes physical devices like computers and servers.</a:t>
            </a:r>
            <a:br>
              <a:rPr lang="en-US" dirty="0"/>
            </a:br>
            <a:r>
              <a:rPr lang="en-US" dirty="0"/>
              <a:t>Software consists of programs and applications that run on hardware.</a:t>
            </a:r>
            <a:br>
              <a:rPr lang="en-US" dirty="0"/>
            </a:br>
            <a:r>
              <a:rPr lang="en-US" dirty="0"/>
              <a:t>Data is the information processed and stored, while networks enable communication and data sharing.</a:t>
            </a:r>
          </a:p>
          <a:p>
            <a:pPr marL="0" indent="0">
              <a:buNone/>
              <a:defRPr sz="2000"/>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Hardware</a:t>
            </a:r>
          </a:p>
        </p:txBody>
      </p:sp>
      <p:sp>
        <p:nvSpPr>
          <p:cNvPr id="3" name="Content Placeholder 2"/>
          <p:cNvSpPr>
            <a:spLocks noGrp="1"/>
          </p:cNvSpPr>
          <p:nvPr>
            <p:ph idx="1"/>
          </p:nvPr>
        </p:nvSpPr>
        <p:spPr/>
        <p:txBody>
          <a:bodyPr/>
          <a:lstStyle/>
          <a:p>
            <a:pPr marL="0" indent="0">
              <a:buNone/>
              <a:defRPr sz="2000"/>
            </a:pPr>
            <a:r>
              <a:rPr lang="en-US" dirty="0"/>
              <a:t>Hardware refers to the physical components of IT systems.</a:t>
            </a:r>
            <a:br>
              <a:rPr lang="en-US" dirty="0"/>
            </a:br>
            <a:r>
              <a:rPr lang="en-US" dirty="0"/>
              <a:t>It includes devices such as computers, servers, keyboards, monitors, printers, and storage devices.</a:t>
            </a:r>
            <a:br>
              <a:rPr lang="en-US" dirty="0"/>
            </a:br>
            <a:r>
              <a:rPr lang="en-US" dirty="0"/>
              <a:t>These components are used to input, process, store, and output information.</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Software</a:t>
            </a:r>
          </a:p>
        </p:txBody>
      </p:sp>
      <p:sp>
        <p:nvSpPr>
          <p:cNvPr id="3" name="Content Placeholder 2"/>
          <p:cNvSpPr>
            <a:spLocks noGrp="1"/>
          </p:cNvSpPr>
          <p:nvPr>
            <p:ph idx="1"/>
          </p:nvPr>
        </p:nvSpPr>
        <p:spPr/>
        <p:txBody>
          <a:bodyPr/>
          <a:lstStyle/>
          <a:p>
            <a:pPr marL="0" indent="0">
              <a:buNone/>
              <a:defRPr sz="2000"/>
            </a:pPr>
            <a:r>
              <a:rPr lang="en-US" dirty="0"/>
              <a:t>Software refers to the programs and applications that control how a computer works.</a:t>
            </a:r>
            <a:br>
              <a:rPr lang="en-US" dirty="0"/>
            </a:br>
            <a:r>
              <a:rPr lang="en-US" dirty="0"/>
              <a:t>It includes system software like operating systems and application software like word processors and browsers.</a:t>
            </a:r>
            <a:br>
              <a:rPr lang="en-US" dirty="0"/>
            </a:br>
            <a:r>
              <a:rPr lang="en-US" dirty="0"/>
              <a:t>Software helps users perform tasks, manage data, and operate hardware efficiently.</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Operating Systems</a:t>
            </a:r>
          </a:p>
        </p:txBody>
      </p:sp>
      <p:sp>
        <p:nvSpPr>
          <p:cNvPr id="3" name="Content Placeholder 2"/>
          <p:cNvSpPr>
            <a:spLocks noGrp="1"/>
          </p:cNvSpPr>
          <p:nvPr>
            <p:ph idx="1"/>
          </p:nvPr>
        </p:nvSpPr>
        <p:spPr/>
        <p:txBody>
          <a:bodyPr/>
          <a:lstStyle/>
          <a:p>
            <a:pPr>
              <a:defRPr sz="2000"/>
            </a:pPr>
            <a:r>
              <a:rPr lang="en-IN" dirty="0"/>
              <a:t>Windows</a:t>
            </a:r>
          </a:p>
          <a:p>
            <a:pPr>
              <a:defRPr sz="2000"/>
            </a:pPr>
            <a:r>
              <a:rPr lang="en-IN" dirty="0"/>
              <a:t>Linux</a:t>
            </a:r>
          </a:p>
          <a:p>
            <a:pPr>
              <a:defRPr sz="2000"/>
            </a:pPr>
            <a:r>
              <a:rPr lang="en-IN" dirty="0"/>
              <a:t>macOS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1490870"/>
            <a:ext cx="8915399" cy="1292087"/>
          </a:xfrm>
        </p:spPr>
        <p:txBody>
          <a:bodyPr/>
          <a:lstStyle/>
          <a:p>
            <a:r>
              <a:rPr dirty="0"/>
              <a:t>Networking &amp; Internet</a:t>
            </a:r>
          </a:p>
        </p:txBody>
      </p:sp>
      <p:sp>
        <p:nvSpPr>
          <p:cNvPr id="3" name="Text Placeholder 2"/>
          <p:cNvSpPr>
            <a:spLocks noGrp="1"/>
          </p:cNvSpPr>
          <p:nvPr>
            <p:ph type="body" idx="1"/>
          </p:nvPr>
        </p:nvSpPr>
        <p:spPr>
          <a:xfrm>
            <a:off x="2589212" y="3530128"/>
            <a:ext cx="8915399" cy="2592376"/>
          </a:xfrm>
        </p:spPr>
        <p:txBody>
          <a:bodyPr>
            <a:normAutofit/>
          </a:bodyPr>
          <a:lstStyle/>
          <a:p>
            <a:r>
              <a:rPr lang="en-US" dirty="0"/>
              <a:t>Networking connects computers and devices to share data and resources.</a:t>
            </a:r>
            <a:br>
              <a:rPr lang="en-US" dirty="0"/>
            </a:br>
            <a:r>
              <a:rPr lang="en-US" dirty="0"/>
              <a:t>The Internet is a global network that enables communication, information sharing, and online services.</a:t>
            </a:r>
            <a:br>
              <a:rPr lang="en-US" dirty="0"/>
            </a:br>
            <a:r>
              <a:rPr lang="en-US" dirty="0"/>
              <a:t>Together, they support email, web access, cloud services, and digital communication.</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Networking</a:t>
            </a:r>
          </a:p>
        </p:txBody>
      </p:sp>
      <p:sp>
        <p:nvSpPr>
          <p:cNvPr id="3" name="Content Placeholder 2"/>
          <p:cNvSpPr>
            <a:spLocks noGrp="1"/>
          </p:cNvSpPr>
          <p:nvPr>
            <p:ph idx="1"/>
          </p:nvPr>
        </p:nvSpPr>
        <p:spPr/>
        <p:txBody>
          <a:bodyPr/>
          <a:lstStyle/>
          <a:p>
            <a:pPr>
              <a:defRPr sz="2000"/>
            </a:pPr>
            <a:r>
              <a:t>LAN</a:t>
            </a:r>
          </a:p>
          <a:p>
            <a:pPr>
              <a:defRPr sz="2000"/>
            </a:pPr>
            <a:r>
              <a:t>WAN</a:t>
            </a:r>
          </a:p>
          <a:p>
            <a:pPr>
              <a:defRPr sz="2000"/>
            </a:pPr>
            <a:r>
              <a:t>Internet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Internet</a:t>
            </a:r>
          </a:p>
        </p:txBody>
      </p:sp>
      <p:sp>
        <p:nvSpPr>
          <p:cNvPr id="3" name="Content Placeholder 2"/>
          <p:cNvSpPr>
            <a:spLocks noGrp="1"/>
          </p:cNvSpPr>
          <p:nvPr>
            <p:ph idx="1"/>
          </p:nvPr>
        </p:nvSpPr>
        <p:spPr/>
        <p:txBody>
          <a:bodyPr/>
          <a:lstStyle/>
          <a:p>
            <a:pPr>
              <a:defRPr sz="2000"/>
            </a:pPr>
            <a:r>
              <a:t>Worldwide network</a:t>
            </a:r>
          </a:p>
          <a:p>
            <a:pPr>
              <a:defRPr sz="2000"/>
            </a:pPr>
            <a:r>
              <a:t>Information sharing platform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Databases</a:t>
            </a:r>
          </a:p>
        </p:txBody>
      </p:sp>
      <p:sp>
        <p:nvSpPr>
          <p:cNvPr id="3" name="Content Placeholder 2"/>
          <p:cNvSpPr>
            <a:spLocks noGrp="1"/>
          </p:cNvSpPr>
          <p:nvPr>
            <p:ph idx="1"/>
          </p:nvPr>
        </p:nvSpPr>
        <p:spPr/>
        <p:txBody>
          <a:bodyPr/>
          <a:lstStyle/>
          <a:p>
            <a:pPr marL="0" indent="0">
              <a:buNone/>
              <a:defRPr sz="2000"/>
            </a:pPr>
            <a:r>
              <a:rPr lang="en-US" dirty="0"/>
              <a:t>Databases are organized collections of data stored electronically.</a:t>
            </a:r>
            <a:br>
              <a:rPr lang="en-US" dirty="0"/>
            </a:br>
            <a:r>
              <a:rPr lang="en-US" dirty="0"/>
              <a:t>They allow easy storage, retrieval, updating, and management of information.</a:t>
            </a:r>
            <a:br>
              <a:rPr lang="en-US" dirty="0"/>
            </a:br>
            <a:r>
              <a:rPr lang="en-US" dirty="0"/>
              <a:t>Databases are widely used in applications like banking, education, healthcare, and e-commerce.</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DBMS</a:t>
            </a:r>
          </a:p>
        </p:txBody>
      </p:sp>
      <p:sp>
        <p:nvSpPr>
          <p:cNvPr id="3" name="Content Placeholder 2"/>
          <p:cNvSpPr>
            <a:spLocks noGrp="1"/>
          </p:cNvSpPr>
          <p:nvPr>
            <p:ph idx="1"/>
          </p:nvPr>
        </p:nvSpPr>
        <p:spPr/>
        <p:txBody>
          <a:bodyPr/>
          <a:lstStyle/>
          <a:p>
            <a:pPr marL="0" indent="0">
              <a:buNone/>
              <a:defRPr sz="2000"/>
            </a:pPr>
            <a:r>
              <a:rPr lang="en-US" dirty="0"/>
              <a:t>DBMS (Database Management System) is software used to create, manage, and control databases.</a:t>
            </a:r>
            <a:br>
              <a:rPr lang="en-US" dirty="0"/>
            </a:br>
            <a:r>
              <a:rPr lang="en-US" dirty="0"/>
              <a:t>It helps store data securely and allows easy access, update, and retrieval of information.</a:t>
            </a:r>
            <a:br>
              <a:rPr lang="en-US" dirty="0"/>
            </a:br>
            <a:r>
              <a:rPr lang="en-US" dirty="0"/>
              <a:t>DBMS is used in systems like banking, libraries, and online applications.</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27859"/>
          </a:xfrm>
        </p:spPr>
        <p:txBody>
          <a:bodyPr>
            <a:normAutofit fontScale="90000"/>
          </a:bodyPr>
          <a:lstStyle/>
          <a:p>
            <a:r>
              <a:rPr dirty="0"/>
              <a:t>Programming &amp; Development</a:t>
            </a:r>
          </a:p>
        </p:txBody>
      </p:sp>
      <p:sp>
        <p:nvSpPr>
          <p:cNvPr id="3" name="Text Placeholder 2"/>
          <p:cNvSpPr>
            <a:spLocks noGrp="1"/>
          </p:cNvSpPr>
          <p:nvPr>
            <p:ph type="body" idx="1"/>
          </p:nvPr>
        </p:nvSpPr>
        <p:spPr>
          <a:xfrm>
            <a:off x="2350672" y="3289853"/>
            <a:ext cx="8915399" cy="3488635"/>
          </a:xfrm>
        </p:spPr>
        <p:txBody>
          <a:bodyPr/>
          <a:lstStyle/>
          <a:p>
            <a:r>
              <a:rPr lang="en-US" dirty="0"/>
              <a:t>Programming involves writing code to create software and applications.</a:t>
            </a:r>
            <a:br>
              <a:rPr lang="en-US" dirty="0"/>
            </a:br>
            <a:r>
              <a:rPr lang="en-US" dirty="0"/>
              <a:t>Development includes designing, testing, and maintaining programs and systems.</a:t>
            </a:r>
            <a:br>
              <a:rPr lang="en-US" dirty="0"/>
            </a:br>
            <a:r>
              <a:rPr lang="en-US" dirty="0"/>
              <a:t>Together, they help build websites, mobile apps, and software solutions for various needs.</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Popular Languages</a:t>
            </a:r>
          </a:p>
        </p:txBody>
      </p:sp>
      <p:sp>
        <p:nvSpPr>
          <p:cNvPr id="3" name="Content Placeholder 2"/>
          <p:cNvSpPr>
            <a:spLocks noGrp="1"/>
          </p:cNvSpPr>
          <p:nvPr>
            <p:ph idx="1"/>
          </p:nvPr>
        </p:nvSpPr>
        <p:spPr/>
        <p:txBody>
          <a:bodyPr/>
          <a:lstStyle/>
          <a:p>
            <a:pPr>
              <a:defRPr sz="2000"/>
            </a:pPr>
            <a:r>
              <a:t>Python</a:t>
            </a:r>
          </a:p>
          <a:p>
            <a:pPr>
              <a:defRPr sz="2000"/>
            </a:pPr>
            <a:r>
              <a:t>Java</a:t>
            </a:r>
          </a:p>
          <a:p>
            <a:pPr>
              <a:defRPr sz="2000"/>
            </a:pPr>
            <a:r>
              <a:t>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9699" y="1213028"/>
            <a:ext cx="8915399" cy="1468800"/>
          </a:xfrm>
        </p:spPr>
        <p:txBody>
          <a:bodyPr/>
          <a:lstStyle/>
          <a:p>
            <a:r>
              <a:rPr dirty="0"/>
              <a:t>Modern Technologies</a:t>
            </a:r>
          </a:p>
        </p:txBody>
      </p:sp>
      <p:sp>
        <p:nvSpPr>
          <p:cNvPr id="3" name="Text Placeholder 2"/>
          <p:cNvSpPr>
            <a:spLocks noGrp="1"/>
          </p:cNvSpPr>
          <p:nvPr>
            <p:ph type="body" idx="1"/>
          </p:nvPr>
        </p:nvSpPr>
        <p:spPr>
          <a:xfrm>
            <a:off x="2509699" y="3429000"/>
            <a:ext cx="8915399" cy="2552620"/>
          </a:xfrm>
        </p:spPr>
        <p:txBody>
          <a:bodyPr>
            <a:noAutofit/>
          </a:bodyPr>
          <a:lstStyle/>
          <a:p>
            <a:r>
              <a:rPr lang="en-US" dirty="0"/>
              <a:t>Modern technologies in Information Technology focus on improving efficiency, connectivity, and innovation.</a:t>
            </a:r>
            <a:br>
              <a:rPr lang="en-US" dirty="0"/>
            </a:br>
            <a:r>
              <a:rPr lang="en-US" dirty="0"/>
              <a:t>They include areas such as artificial intelligence, cloud computing, cybersecurity, and data analytics.</a:t>
            </a:r>
            <a:br>
              <a:rPr lang="en-US" dirty="0"/>
            </a:br>
            <a:r>
              <a:rPr lang="en-US" dirty="0"/>
              <a:t>These technologies help organizations automate processes, store and analyze data, and enhance security.</a:t>
            </a:r>
            <a:br>
              <a:rPr lang="en-US" dirty="0"/>
            </a:br>
            <a:r>
              <a:rPr lang="en-US" dirty="0"/>
              <a:t>Overall, modern IT technologies play a key role in digital transformation and everyday life.</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 Threats</a:t>
            </a:r>
          </a:p>
        </p:txBody>
      </p:sp>
      <p:sp>
        <p:nvSpPr>
          <p:cNvPr id="3" name="Content Placeholder 2"/>
          <p:cNvSpPr>
            <a:spLocks noGrp="1"/>
          </p:cNvSpPr>
          <p:nvPr>
            <p:ph idx="1"/>
          </p:nvPr>
        </p:nvSpPr>
        <p:spPr/>
        <p:txBody>
          <a:bodyPr/>
          <a:lstStyle/>
          <a:p>
            <a:pPr>
              <a:defRPr sz="2000"/>
            </a:pPr>
            <a:r>
              <a:t>Virus</a:t>
            </a:r>
          </a:p>
          <a:p>
            <a:pPr>
              <a:defRPr sz="2000"/>
            </a:pPr>
            <a:r>
              <a:t>Malware</a:t>
            </a:r>
          </a:p>
          <a:p>
            <a:pPr>
              <a:defRPr sz="2000"/>
            </a:pPr>
            <a:r>
              <a:t>Phishing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Artificial Intelligence</a:t>
            </a:r>
          </a:p>
        </p:txBody>
      </p:sp>
      <p:sp>
        <p:nvSpPr>
          <p:cNvPr id="3" name="Content Placeholder 2"/>
          <p:cNvSpPr>
            <a:spLocks noGrp="1"/>
          </p:cNvSpPr>
          <p:nvPr>
            <p:ph idx="1"/>
          </p:nvPr>
        </p:nvSpPr>
        <p:spPr/>
        <p:txBody>
          <a:bodyPr/>
          <a:lstStyle/>
          <a:p>
            <a:pPr marL="0" indent="0">
              <a:buNone/>
              <a:defRPr sz="2000"/>
            </a:pPr>
            <a:r>
              <a:rPr lang="en-US" dirty="0"/>
              <a:t>Artificial Intelligence (AI) is a branch of computer science that enables machines to think, learn, and make decisions like humans.</a:t>
            </a:r>
            <a:br>
              <a:rPr lang="en-US" dirty="0"/>
            </a:br>
            <a:r>
              <a:rPr lang="en-US" dirty="0"/>
              <a:t>It is used in areas such as healthcare, robotics, virtual assistants, and data analysis.</a:t>
            </a:r>
            <a:br>
              <a:rPr lang="en-US" dirty="0"/>
            </a:br>
            <a:r>
              <a:rPr lang="en-US" dirty="0"/>
              <a:t>AI helps improve efficiency, accuracy, and automation in many industries.</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Machine Learning</a:t>
            </a:r>
          </a:p>
        </p:txBody>
      </p:sp>
      <p:sp>
        <p:nvSpPr>
          <p:cNvPr id="3" name="Content Placeholder 2"/>
          <p:cNvSpPr>
            <a:spLocks noGrp="1"/>
          </p:cNvSpPr>
          <p:nvPr>
            <p:ph idx="1"/>
          </p:nvPr>
        </p:nvSpPr>
        <p:spPr/>
        <p:txBody>
          <a:bodyPr/>
          <a:lstStyle/>
          <a:p>
            <a:pPr marL="0" indent="0">
              <a:buNone/>
              <a:defRPr sz="2000"/>
            </a:pPr>
            <a:r>
              <a:rPr lang="en-US" dirty="0"/>
              <a:t>It is a subset of artificial intelligence that allows systems to learn from data and improve their performance without being explicitly programmed.</a:t>
            </a:r>
            <a:br>
              <a:rPr lang="en-US" dirty="0"/>
            </a:br>
            <a:r>
              <a:rPr lang="en-US" dirty="0"/>
              <a:t>It is widely used in applications like recommendation systems, image recognition, and fraud detection.</a:t>
            </a:r>
            <a:br>
              <a:rPr lang="en-US" dirty="0"/>
            </a:br>
            <a:r>
              <a:rPr lang="en-US" dirty="0"/>
              <a:t>Machine learning helps organizations make accurate predictions and data-driven decisions.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776603"/>
            <a:ext cx="8915399" cy="1468800"/>
          </a:xfrm>
        </p:spPr>
        <p:txBody>
          <a:bodyPr/>
          <a:lstStyle/>
          <a:p>
            <a:r>
              <a:rPr dirty="0"/>
              <a:t>Applications of IT</a:t>
            </a:r>
          </a:p>
        </p:txBody>
      </p:sp>
      <p:sp>
        <p:nvSpPr>
          <p:cNvPr id="3" name="Text Placeholder 2"/>
          <p:cNvSpPr>
            <a:spLocks noGrp="1"/>
          </p:cNvSpPr>
          <p:nvPr>
            <p:ph type="body" idx="1"/>
          </p:nvPr>
        </p:nvSpPr>
        <p:spPr>
          <a:xfrm>
            <a:off x="2589211" y="2782957"/>
            <a:ext cx="8796130" cy="2981739"/>
          </a:xfrm>
        </p:spPr>
        <p:txBody>
          <a:bodyPr>
            <a:normAutofit/>
          </a:bodyPr>
          <a:lstStyle/>
          <a:p>
            <a:r>
              <a:rPr lang="en-US" dirty="0"/>
              <a:t>Information Technology is widely used in education for e-learning and digital classrooms.</a:t>
            </a:r>
            <a:br>
              <a:rPr lang="en-US" dirty="0"/>
            </a:br>
            <a:r>
              <a:rPr lang="en-US" dirty="0"/>
              <a:t>In business, IT helps in data management, communication, and online transactions.</a:t>
            </a:r>
            <a:br>
              <a:rPr lang="en-US" dirty="0"/>
            </a:br>
            <a:r>
              <a:rPr lang="en-US" dirty="0"/>
              <a:t>Healthcare uses IT for electronic medical records and telemedicine.</a:t>
            </a:r>
            <a:br>
              <a:rPr lang="en-US" dirty="0"/>
            </a:br>
            <a:r>
              <a:rPr lang="en-US" dirty="0"/>
              <a:t>IT is also applied in banking, government services, entertainment, and communication systems.</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 in Education</a:t>
            </a:r>
          </a:p>
        </p:txBody>
      </p:sp>
      <p:sp>
        <p:nvSpPr>
          <p:cNvPr id="3" name="Content Placeholder 2"/>
          <p:cNvSpPr>
            <a:spLocks noGrp="1"/>
          </p:cNvSpPr>
          <p:nvPr>
            <p:ph idx="1"/>
          </p:nvPr>
        </p:nvSpPr>
        <p:spPr/>
        <p:txBody>
          <a:bodyPr/>
          <a:lstStyle/>
          <a:p>
            <a:pPr>
              <a:defRPr sz="2000"/>
            </a:pPr>
            <a:r>
              <a:t>Online learning</a:t>
            </a:r>
          </a:p>
          <a:p>
            <a:pPr>
              <a:defRPr sz="2000"/>
            </a:pPr>
            <a:r>
              <a:t>Digital classrooms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 in Healthcare</a:t>
            </a:r>
          </a:p>
        </p:txBody>
      </p:sp>
      <p:sp>
        <p:nvSpPr>
          <p:cNvPr id="3" name="Content Placeholder 2"/>
          <p:cNvSpPr>
            <a:spLocks noGrp="1"/>
          </p:cNvSpPr>
          <p:nvPr>
            <p:ph idx="1"/>
          </p:nvPr>
        </p:nvSpPr>
        <p:spPr/>
        <p:txBody>
          <a:bodyPr/>
          <a:lstStyle/>
          <a:p>
            <a:pPr>
              <a:defRPr sz="2000"/>
            </a:pPr>
            <a:r>
              <a:t>Electronic health records</a:t>
            </a:r>
          </a:p>
          <a:p>
            <a:pPr>
              <a:defRPr sz="2000"/>
            </a:pPr>
            <a:r>
              <a:t>Telemedicine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 in Business</a:t>
            </a:r>
          </a:p>
        </p:txBody>
      </p:sp>
      <p:sp>
        <p:nvSpPr>
          <p:cNvPr id="3" name="Content Placeholder 2"/>
          <p:cNvSpPr>
            <a:spLocks noGrp="1"/>
          </p:cNvSpPr>
          <p:nvPr>
            <p:ph idx="1"/>
          </p:nvPr>
        </p:nvSpPr>
        <p:spPr/>
        <p:txBody>
          <a:bodyPr/>
          <a:lstStyle/>
          <a:p>
            <a:pPr>
              <a:defRPr sz="2000"/>
            </a:pPr>
            <a:r>
              <a:t>Automation</a:t>
            </a:r>
          </a:p>
          <a:p>
            <a:pPr>
              <a:defRPr sz="2000"/>
            </a:pPr>
            <a:r>
              <a:t>Improved productivity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 in Banking</a:t>
            </a:r>
          </a:p>
        </p:txBody>
      </p:sp>
      <p:sp>
        <p:nvSpPr>
          <p:cNvPr id="3" name="Content Placeholder 2"/>
          <p:cNvSpPr>
            <a:spLocks noGrp="1"/>
          </p:cNvSpPr>
          <p:nvPr>
            <p:ph idx="1"/>
          </p:nvPr>
        </p:nvSpPr>
        <p:spPr/>
        <p:txBody>
          <a:bodyPr/>
          <a:lstStyle/>
          <a:p>
            <a:pPr>
              <a:defRPr sz="2000"/>
            </a:pPr>
            <a:r>
              <a:t>Online banking</a:t>
            </a:r>
          </a:p>
          <a:p>
            <a:pPr>
              <a:defRPr sz="2000"/>
            </a:pPr>
            <a:r>
              <a:t>Secure transactions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E-Commerce</a:t>
            </a:r>
          </a:p>
        </p:txBody>
      </p:sp>
      <p:sp>
        <p:nvSpPr>
          <p:cNvPr id="3" name="Content Placeholder 2"/>
          <p:cNvSpPr>
            <a:spLocks noGrp="1"/>
          </p:cNvSpPr>
          <p:nvPr>
            <p:ph idx="1"/>
          </p:nvPr>
        </p:nvSpPr>
        <p:spPr/>
        <p:txBody>
          <a:bodyPr/>
          <a:lstStyle/>
          <a:p>
            <a:pPr>
              <a:defRPr sz="2000"/>
            </a:pPr>
            <a:r>
              <a:t>Online shopping</a:t>
            </a:r>
          </a:p>
          <a:p>
            <a:pPr>
              <a:defRPr sz="2000"/>
            </a:pPr>
            <a:r>
              <a:t>Digital payments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Mobile Technology</a:t>
            </a:r>
          </a:p>
        </p:txBody>
      </p:sp>
      <p:sp>
        <p:nvSpPr>
          <p:cNvPr id="3" name="Content Placeholder 2"/>
          <p:cNvSpPr>
            <a:spLocks noGrp="1"/>
          </p:cNvSpPr>
          <p:nvPr>
            <p:ph idx="1"/>
          </p:nvPr>
        </p:nvSpPr>
        <p:spPr/>
        <p:txBody>
          <a:bodyPr/>
          <a:lstStyle/>
          <a:p>
            <a:pPr marL="0" indent="0">
              <a:buNone/>
              <a:defRPr sz="2000"/>
            </a:pPr>
            <a:r>
              <a:rPr lang="en-US" dirty="0"/>
              <a:t>Mobile technology refers to the use of portable devices such as smartphones and tablets for communication and computing.</a:t>
            </a:r>
            <a:br>
              <a:rPr lang="en-US" dirty="0"/>
            </a:br>
            <a:r>
              <a:rPr lang="en-US" dirty="0"/>
              <a:t>It enables services like mobile internet, apps, online banking, and digital payments.</a:t>
            </a:r>
            <a:br>
              <a:rPr lang="en-US" dirty="0"/>
            </a:br>
            <a:r>
              <a:rPr lang="en-US" dirty="0"/>
              <a:t>Mobile technology provides quick access to information and supports connectivity anytime and anywhere.</a:t>
            </a:r>
          </a:p>
          <a:p>
            <a:pPr marL="0" indent="0">
              <a:buNone/>
              <a:defRPr sz="2000"/>
            </a:pP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Careers &amp; Future</a:t>
            </a:r>
          </a:p>
        </p:txBody>
      </p:sp>
      <p:sp>
        <p:nvSpPr>
          <p:cNvPr id="3" name="Text Placeholder 2"/>
          <p:cNvSpPr>
            <a:spLocks noGrp="1"/>
          </p:cNvSpPr>
          <p:nvPr>
            <p:ph type="body" idx="1"/>
          </p:nvPr>
        </p:nvSpPr>
        <p:spPr/>
        <p:txBody>
          <a:bodyPr/>
          <a:lstStyle/>
          <a:p>
            <a:r>
              <a:t>Opportunities in IT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 Careers</a:t>
            </a:r>
          </a:p>
        </p:txBody>
      </p:sp>
      <p:sp>
        <p:nvSpPr>
          <p:cNvPr id="3" name="Content Placeholder 2"/>
          <p:cNvSpPr>
            <a:spLocks noGrp="1"/>
          </p:cNvSpPr>
          <p:nvPr>
            <p:ph idx="1"/>
          </p:nvPr>
        </p:nvSpPr>
        <p:spPr/>
        <p:txBody>
          <a:bodyPr/>
          <a:lstStyle/>
          <a:p>
            <a:pPr>
              <a:defRPr sz="2000"/>
            </a:pPr>
            <a:r>
              <a:t>Software developer</a:t>
            </a:r>
          </a:p>
          <a:p>
            <a:pPr>
              <a:defRPr sz="2000"/>
            </a:pPr>
            <a:r>
              <a:t>System analyst</a:t>
            </a:r>
          </a:p>
          <a:p>
            <a:pPr>
              <a:defRPr sz="2000"/>
            </a:pPr>
            <a:r>
              <a:t>Network engineer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Skills Required</a:t>
            </a:r>
          </a:p>
        </p:txBody>
      </p:sp>
      <p:sp>
        <p:nvSpPr>
          <p:cNvPr id="3" name="Content Placeholder 2"/>
          <p:cNvSpPr>
            <a:spLocks noGrp="1"/>
          </p:cNvSpPr>
          <p:nvPr>
            <p:ph idx="1"/>
          </p:nvPr>
        </p:nvSpPr>
        <p:spPr/>
        <p:txBody>
          <a:bodyPr/>
          <a:lstStyle/>
          <a:p>
            <a:pPr>
              <a:defRPr sz="2000"/>
            </a:pPr>
            <a:r>
              <a:t>Technical knowledge</a:t>
            </a:r>
          </a:p>
          <a:p>
            <a:pPr>
              <a:defRPr sz="2000"/>
            </a:pPr>
            <a:r>
              <a:t>Problem-solving ability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of IT</a:t>
            </a:r>
          </a:p>
        </p:txBody>
      </p:sp>
      <p:sp>
        <p:nvSpPr>
          <p:cNvPr id="3" name="Content Placeholder 2"/>
          <p:cNvSpPr>
            <a:spLocks noGrp="1"/>
          </p:cNvSpPr>
          <p:nvPr>
            <p:ph idx="1"/>
          </p:nvPr>
        </p:nvSpPr>
        <p:spPr/>
        <p:txBody>
          <a:bodyPr/>
          <a:lstStyle/>
          <a:p>
            <a:pPr>
              <a:defRPr sz="2000"/>
            </a:pPr>
            <a:r>
              <a:t>AI growth</a:t>
            </a:r>
          </a:p>
          <a:p>
            <a:pPr>
              <a:defRPr sz="2000"/>
            </a:pPr>
            <a:r>
              <a:t>Automation</a:t>
            </a:r>
          </a:p>
          <a:p>
            <a:pPr>
              <a:defRPr sz="2000"/>
            </a:pPr>
            <a:r>
              <a:t>Innovation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Ethics in IT</a:t>
            </a:r>
          </a:p>
        </p:txBody>
      </p:sp>
      <p:sp>
        <p:nvSpPr>
          <p:cNvPr id="3" name="Content Placeholder 2"/>
          <p:cNvSpPr>
            <a:spLocks noGrp="1"/>
          </p:cNvSpPr>
          <p:nvPr>
            <p:ph idx="1"/>
          </p:nvPr>
        </p:nvSpPr>
        <p:spPr/>
        <p:txBody>
          <a:bodyPr/>
          <a:lstStyle/>
          <a:p>
            <a:pPr marL="0" indent="0">
              <a:buNone/>
              <a:defRPr sz="2000"/>
            </a:pPr>
            <a:r>
              <a:rPr lang="en-US" dirty="0"/>
              <a:t>Ethics in IT refers to the moral principles that guide the responsible use of technology.</a:t>
            </a:r>
            <a:br>
              <a:rPr lang="en-US" dirty="0"/>
            </a:br>
            <a:r>
              <a:rPr lang="en-US" dirty="0"/>
              <a:t>It includes issues such as data privacy, security, intellectual property, and responsible use of information.</a:t>
            </a:r>
            <a:br>
              <a:rPr lang="en-US" dirty="0"/>
            </a:br>
            <a:r>
              <a:rPr lang="en-US" dirty="0"/>
              <a:t>Following IT ethics helps protect users’ rights and ensures trust in digital systems.</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Green IT</a:t>
            </a:r>
          </a:p>
        </p:txBody>
      </p:sp>
      <p:sp>
        <p:nvSpPr>
          <p:cNvPr id="3" name="Content Placeholder 2"/>
          <p:cNvSpPr>
            <a:spLocks noGrp="1"/>
          </p:cNvSpPr>
          <p:nvPr>
            <p:ph idx="1"/>
          </p:nvPr>
        </p:nvSpPr>
        <p:spPr/>
        <p:txBody>
          <a:bodyPr/>
          <a:lstStyle/>
          <a:p>
            <a:pPr marL="0" indent="0">
              <a:buNone/>
              <a:defRPr sz="2000"/>
            </a:pPr>
            <a:r>
              <a:rPr lang="en-US" dirty="0"/>
              <a:t>Green IT refers to the practice of using information technology in an environmentally friendly way.</a:t>
            </a:r>
            <a:br>
              <a:rPr lang="en-US" dirty="0"/>
            </a:br>
            <a:r>
              <a:rPr lang="en-US" dirty="0"/>
              <a:t>It focuses on reducing energy consumption, electronic waste, and carbon emissions.</a:t>
            </a:r>
            <a:br>
              <a:rPr lang="en-US" dirty="0"/>
            </a:br>
            <a:r>
              <a:rPr lang="en-US" dirty="0"/>
              <a:t>Green IT helps promote sustainability by encouraging efficient hardware, recycling, and eco-friendly data centers.</a:t>
            </a:r>
          </a:p>
          <a:p>
            <a:pPr marL="0" indent="0">
              <a:buNone/>
              <a:defRPr sz="2000"/>
            </a:pP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of IT</a:t>
            </a:r>
          </a:p>
        </p:txBody>
      </p:sp>
      <p:sp>
        <p:nvSpPr>
          <p:cNvPr id="3" name="Content Placeholder 2"/>
          <p:cNvSpPr>
            <a:spLocks noGrp="1"/>
          </p:cNvSpPr>
          <p:nvPr>
            <p:ph idx="1"/>
          </p:nvPr>
        </p:nvSpPr>
        <p:spPr/>
        <p:txBody>
          <a:bodyPr/>
          <a:lstStyle/>
          <a:p>
            <a:pPr>
              <a:defRPr sz="2000"/>
            </a:pPr>
            <a:r>
              <a:t>Speed</a:t>
            </a:r>
          </a:p>
          <a:p>
            <a:pPr>
              <a:defRPr sz="2000"/>
            </a:pPr>
            <a:r>
              <a:t>Accuracy</a:t>
            </a:r>
          </a:p>
          <a:p>
            <a:pPr>
              <a:defRPr sz="2000"/>
            </a:pPr>
            <a:r>
              <a:t>Efficiency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Limitations of IT</a:t>
            </a:r>
          </a:p>
        </p:txBody>
      </p:sp>
      <p:sp>
        <p:nvSpPr>
          <p:cNvPr id="3" name="Content Placeholder 2"/>
          <p:cNvSpPr>
            <a:spLocks noGrp="1"/>
          </p:cNvSpPr>
          <p:nvPr>
            <p:ph idx="1"/>
          </p:nvPr>
        </p:nvSpPr>
        <p:spPr/>
        <p:txBody>
          <a:bodyPr/>
          <a:lstStyle/>
          <a:p>
            <a:pPr marL="0" indent="0">
              <a:buNone/>
              <a:defRPr sz="2000"/>
            </a:pPr>
            <a:r>
              <a:rPr lang="en-US" dirty="0"/>
              <a:t>IT can be expensive to implement and maintain.</a:t>
            </a:r>
            <a:br>
              <a:rPr lang="en-US" dirty="0"/>
            </a:br>
            <a:r>
              <a:rPr lang="en-US" dirty="0"/>
              <a:t>It may cause security and privacy risks such as data theft and cyberattacks.</a:t>
            </a:r>
            <a:br>
              <a:rPr lang="en-US" dirty="0"/>
            </a:br>
            <a:r>
              <a:rPr lang="en-US" dirty="0"/>
              <a:t>Overdependence on IT can reduce human interaction and skills.</a:t>
            </a:r>
            <a:br>
              <a:rPr lang="en-US" dirty="0"/>
            </a:br>
            <a:r>
              <a:rPr lang="en-US" dirty="0"/>
              <a:t>Technical issues and system failures can disrupt work and services.</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a:xfrm>
            <a:off x="2592924" y="2133600"/>
            <a:ext cx="8911687" cy="3777622"/>
          </a:xfrm>
        </p:spPr>
        <p:txBody>
          <a:bodyPr/>
          <a:lstStyle/>
          <a:p>
            <a:pPr marL="0" indent="0">
              <a:buNone/>
              <a:defRPr sz="2000"/>
            </a:pPr>
            <a:r>
              <a:rPr lang="en-US" dirty="0"/>
              <a:t>It plays a vital role in modern society by improving communication, efficiency, and access to information.</a:t>
            </a:r>
            <a:br>
              <a:rPr lang="en-US" dirty="0"/>
            </a:br>
            <a:r>
              <a:rPr lang="en-US" dirty="0"/>
              <a:t>It supports growth in education, business, healthcare, and many other fields.</a:t>
            </a:r>
            <a:br>
              <a:rPr lang="en-US" dirty="0"/>
            </a:br>
            <a:r>
              <a:rPr lang="en-US" dirty="0"/>
              <a:t>Overall, IT continues to drive innovation and shape the future of the digital world.</a:t>
            </a:r>
          </a:p>
          <a:p>
            <a:pPr marL="0" indent="0">
              <a:buNone/>
              <a:defRPr sz="2000"/>
            </a:pPr>
            <a:endParaRPr dirty="0"/>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91</TotalTime>
  <Words>1194</Words>
  <Application>Microsoft Office PowerPoint</Application>
  <PresentationFormat>Widescreen</PresentationFormat>
  <Paragraphs>97</Paragraphs>
  <Slides>37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Century Gothic</vt:lpstr>
      <vt:lpstr>Wingdings 3</vt:lpstr>
      <vt:lpstr>Wisp</vt:lpstr>
      <vt:lpstr>Information Technology (IT)</vt:lpstr>
      <vt:lpstr>Introduction</vt:lpstr>
      <vt:lpstr>What is Information Technology?</vt:lpstr>
      <vt:lpstr>Importance of IT</vt:lpstr>
      <vt:lpstr>History of IT</vt:lpstr>
      <vt:lpstr>Core Components</vt:lpstr>
      <vt:lpstr>Main Components of IT</vt:lpstr>
      <vt:lpstr>Hardware</vt:lpstr>
      <vt:lpstr>Software</vt:lpstr>
      <vt:lpstr>Operating Systems</vt:lpstr>
      <vt:lpstr>Networking &amp; Internet</vt:lpstr>
      <vt:lpstr>Networking</vt:lpstr>
      <vt:lpstr>Internet</vt:lpstr>
      <vt:lpstr>Databases</vt:lpstr>
      <vt:lpstr>DBMS</vt:lpstr>
      <vt:lpstr>Programming &amp; Development</vt:lpstr>
      <vt:lpstr>Popular Languages</vt:lpstr>
      <vt:lpstr>Modern Technologies</vt:lpstr>
      <vt:lpstr>Security Threats</vt:lpstr>
      <vt:lpstr>Artificial Intelligence</vt:lpstr>
      <vt:lpstr>Machine Learning</vt:lpstr>
      <vt:lpstr>Applications of IT</vt:lpstr>
      <vt:lpstr>IT in Education</vt:lpstr>
      <vt:lpstr>IT in Healthcare</vt:lpstr>
      <vt:lpstr>IT in Business</vt:lpstr>
      <vt:lpstr>IT in Banking</vt:lpstr>
      <vt:lpstr>E-Commerce</vt:lpstr>
      <vt:lpstr>Mobile Technology</vt:lpstr>
      <vt:lpstr>Careers &amp; Future</vt:lpstr>
      <vt:lpstr>IT Careers</vt:lpstr>
      <vt:lpstr>Skills Required</vt:lpstr>
      <vt:lpstr>Future of IT</vt:lpstr>
      <vt:lpstr>Ethics in IT</vt:lpstr>
      <vt:lpstr>Green IT</vt:lpstr>
      <vt:lpstr>Advantages of IT</vt:lpstr>
      <vt:lpstr>Limitations of IT</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ArunangshuBachaspati</dc:creator>
  <cp:keywords/>
  <dc:description>generated using python-pptx</dc:description>
  <cp:lastModifiedBy>Arunangshu Bachaspati</cp:lastModifiedBy>
  <cp:revision>8</cp:revision>
  <dcterms:created xsi:type="dcterms:W3CDTF">2013-01-27T09:14:16Z</dcterms:created>
  <dcterms:modified xsi:type="dcterms:W3CDTF">2026-01-17T18:42:28Z</dcterms:modified>
  <cp:category/>
</cp:coreProperties>
</file>